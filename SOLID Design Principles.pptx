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5" r:id="rId9"/>
    <p:sldId id="264" r:id="rId10"/>
    <p:sldId id="263" r:id="rId11"/>
    <p:sldId id="266" r:id="rId12"/>
    <p:sldId id="267" r:id="rId13"/>
    <p:sldId id="268" r:id="rId14"/>
    <p:sldId id="272" r:id="rId15"/>
    <p:sldId id="269" r:id="rId16"/>
    <p:sldId id="271" r:id="rId17"/>
    <p:sldId id="270"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5806" autoAdjust="0"/>
  </p:normalViewPr>
  <p:slideViewPr>
    <p:cSldViewPr snapToGrid="0">
      <p:cViewPr varScale="1">
        <p:scale>
          <a:sx n="95" d="100"/>
          <a:sy n="95" d="100"/>
        </p:scale>
        <p:origin x="1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5/2/2026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5/2/2026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5/2/2026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5/2/2026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5/2/2026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5/2/2026</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5/2/2026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tmp"/><Relationship Id="rId1" Type="http://schemas.openxmlformats.org/officeDocument/2006/relationships/slideLayout" Target="../slideLayouts/slideLayout2.xml"/><Relationship Id="rId4" Type="http://schemas.openxmlformats.org/officeDocument/2006/relationships/image" Target="../media/image20.tm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1F60F-A127-A3FA-3405-27F2B8EDB555}"/>
              </a:ext>
            </a:extLst>
          </p:cNvPr>
          <p:cNvSpPr>
            <a:spLocks noGrp="1"/>
          </p:cNvSpPr>
          <p:nvPr>
            <p:ph type="ctrTitle"/>
          </p:nvPr>
        </p:nvSpPr>
        <p:spPr>
          <a:xfrm>
            <a:off x="680322" y="2733709"/>
            <a:ext cx="8144134" cy="1763476"/>
          </a:xfrm>
        </p:spPr>
        <p:txBody>
          <a:bodyPr/>
          <a:lstStyle/>
          <a:p>
            <a:r>
              <a:rPr lang="en-IN" b="1" dirty="0"/>
              <a:t>SOLID Design Principles</a:t>
            </a:r>
            <a:br>
              <a:rPr lang="en-IN" b="1" dirty="0"/>
            </a:br>
            <a:endParaRPr lang="en-IN" dirty="0"/>
          </a:p>
        </p:txBody>
      </p:sp>
      <p:sp>
        <p:nvSpPr>
          <p:cNvPr id="3" name="Subtitle 2">
            <a:extLst>
              <a:ext uri="{FF2B5EF4-FFF2-40B4-BE49-F238E27FC236}">
                <a16:creationId xmlns:a16="http://schemas.microsoft.com/office/drawing/2014/main" id="{D0A703AD-8581-2026-5C78-0D41F7975846}"/>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144951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772F-DCD9-1025-0D2B-0DFCF622D8C0}"/>
              </a:ext>
            </a:extLst>
          </p:cNvPr>
          <p:cNvSpPr>
            <a:spLocks noGrp="1"/>
          </p:cNvSpPr>
          <p:nvPr>
            <p:ph type="title"/>
          </p:nvPr>
        </p:nvSpPr>
        <p:spPr>
          <a:xfrm>
            <a:off x="680321" y="753228"/>
            <a:ext cx="9613861" cy="959194"/>
          </a:xfrm>
        </p:spPr>
        <p:txBody>
          <a:bodyPr>
            <a:normAutofit fontScale="90000"/>
          </a:bodyPr>
          <a:lstStyle/>
          <a:p>
            <a:r>
              <a:rPr lang="en-US" b="1" dirty="0"/>
              <a:t>What does SOLID design principle mean?</a:t>
            </a:r>
            <a:br>
              <a:rPr lang="en-US" b="1" dirty="0"/>
            </a:br>
            <a:endParaRPr lang="en-IN" dirty="0"/>
          </a:p>
        </p:txBody>
      </p:sp>
      <p:sp>
        <p:nvSpPr>
          <p:cNvPr id="3" name="Content Placeholder 2">
            <a:extLst>
              <a:ext uri="{FF2B5EF4-FFF2-40B4-BE49-F238E27FC236}">
                <a16:creationId xmlns:a16="http://schemas.microsoft.com/office/drawing/2014/main" id="{EE551E5B-E9C7-9876-D587-FBD0471A5809}"/>
              </a:ext>
            </a:extLst>
          </p:cNvPr>
          <p:cNvSpPr>
            <a:spLocks noGrp="1"/>
          </p:cNvSpPr>
          <p:nvPr>
            <p:ph idx="1"/>
          </p:nvPr>
        </p:nvSpPr>
        <p:spPr>
          <a:xfrm>
            <a:off x="220477" y="2303621"/>
            <a:ext cx="10533548" cy="3972487"/>
          </a:xfrm>
        </p:spPr>
        <p:txBody>
          <a:bodyPr>
            <a:normAutofit/>
          </a:bodyPr>
          <a:lstStyle/>
          <a:p>
            <a:r>
              <a:rPr lang="en-US" dirty="0"/>
              <a:t>SOLID is a famous term used to describe 5 key design principles that help software developers write better object-oriented code. These principles were introduced by Robert C. Martin back in 2000. Since that time, these principles have become a standard in software design.</a:t>
            </a:r>
          </a:p>
          <a:p>
            <a:r>
              <a:rPr lang="en-US" dirty="0"/>
              <a:t>SOLID stands for:</a:t>
            </a:r>
          </a:p>
          <a:p>
            <a:pPr marL="457200" lvl="1" indent="0">
              <a:buNone/>
            </a:pPr>
            <a:r>
              <a:rPr lang="en-US" b="1" dirty="0"/>
              <a:t>    S</a:t>
            </a:r>
            <a:r>
              <a:rPr lang="en-US" dirty="0"/>
              <a:t> ingle-Responsibility Principle</a:t>
            </a:r>
          </a:p>
          <a:p>
            <a:pPr marL="457200" lvl="1" indent="0">
              <a:buNone/>
            </a:pPr>
            <a:r>
              <a:rPr lang="en-US" b="1" dirty="0"/>
              <a:t>    O</a:t>
            </a:r>
            <a:r>
              <a:rPr lang="en-US" dirty="0"/>
              <a:t> pen/Closed Principle</a:t>
            </a:r>
          </a:p>
          <a:p>
            <a:pPr marL="457200" lvl="1" indent="0">
              <a:buNone/>
            </a:pPr>
            <a:r>
              <a:rPr lang="en-US" b="1" dirty="0"/>
              <a:t>    L</a:t>
            </a:r>
            <a:r>
              <a:rPr lang="en-US" dirty="0"/>
              <a:t> </a:t>
            </a:r>
            <a:r>
              <a:rPr lang="en-US" dirty="0" err="1"/>
              <a:t>iskov</a:t>
            </a:r>
            <a:r>
              <a:rPr lang="en-US" dirty="0"/>
              <a:t> Substitution Principle</a:t>
            </a:r>
          </a:p>
          <a:p>
            <a:pPr marL="457200" lvl="1" indent="0">
              <a:buNone/>
            </a:pPr>
            <a:r>
              <a:rPr lang="en-US" b="1" dirty="0"/>
              <a:t>    I</a:t>
            </a:r>
            <a:r>
              <a:rPr lang="en-US" dirty="0"/>
              <a:t> </a:t>
            </a:r>
            <a:r>
              <a:rPr lang="en-US" dirty="0" err="1"/>
              <a:t>nterface</a:t>
            </a:r>
            <a:r>
              <a:rPr lang="en-US" dirty="0"/>
              <a:t> Segregation Principle</a:t>
            </a:r>
          </a:p>
          <a:p>
            <a:pPr marL="457200" lvl="1" indent="0">
              <a:buNone/>
            </a:pPr>
            <a:r>
              <a:rPr lang="en-US" b="1" dirty="0"/>
              <a:t>    D</a:t>
            </a:r>
            <a:r>
              <a:rPr lang="en-US" dirty="0"/>
              <a:t> </a:t>
            </a:r>
            <a:r>
              <a:rPr lang="en-US" dirty="0" err="1"/>
              <a:t>ependency</a:t>
            </a:r>
            <a:r>
              <a:rPr lang="en-US" dirty="0"/>
              <a:t> Inversion Principle</a:t>
            </a:r>
          </a:p>
          <a:p>
            <a:endParaRPr lang="en-IN" dirty="0"/>
          </a:p>
        </p:txBody>
      </p:sp>
    </p:spTree>
    <p:extLst>
      <p:ext uri="{BB962C8B-B14F-4D97-AF65-F5344CB8AC3E}">
        <p14:creationId xmlns:p14="http://schemas.microsoft.com/office/powerpoint/2010/main" val="3144131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A53E5-FCBE-498B-AB10-A61F36AEFEC9}"/>
              </a:ext>
            </a:extLst>
          </p:cNvPr>
          <p:cNvSpPr>
            <a:spLocks noGrp="1"/>
          </p:cNvSpPr>
          <p:nvPr>
            <p:ph type="title"/>
          </p:nvPr>
        </p:nvSpPr>
        <p:spPr>
          <a:xfrm>
            <a:off x="760532" y="1028132"/>
            <a:ext cx="9613861" cy="704415"/>
          </a:xfrm>
        </p:spPr>
        <p:txBody>
          <a:bodyPr>
            <a:normAutofit fontScale="90000"/>
          </a:bodyPr>
          <a:lstStyle/>
          <a:p>
            <a:r>
              <a:rPr lang="en-IN" b="1" dirty="0"/>
              <a:t>Why use SOLID principles?</a:t>
            </a:r>
            <a:br>
              <a:rPr lang="en-IN" b="1" dirty="0"/>
            </a:br>
            <a:endParaRPr lang="en-IN" dirty="0"/>
          </a:p>
        </p:txBody>
      </p:sp>
      <p:sp>
        <p:nvSpPr>
          <p:cNvPr id="3" name="Content Placeholder 2">
            <a:extLst>
              <a:ext uri="{FF2B5EF4-FFF2-40B4-BE49-F238E27FC236}">
                <a16:creationId xmlns:a16="http://schemas.microsoft.com/office/drawing/2014/main" id="{B285551A-3385-98B9-07FF-6043613692E8}"/>
              </a:ext>
            </a:extLst>
          </p:cNvPr>
          <p:cNvSpPr>
            <a:spLocks noGrp="1"/>
          </p:cNvSpPr>
          <p:nvPr>
            <p:ph idx="1"/>
          </p:nvPr>
        </p:nvSpPr>
        <p:spPr>
          <a:xfrm>
            <a:off x="229985" y="2029326"/>
            <a:ext cx="11962015" cy="4828674"/>
          </a:xfrm>
        </p:spPr>
        <p:txBody>
          <a:bodyPr>
            <a:normAutofit/>
          </a:bodyPr>
          <a:lstStyle/>
          <a:p>
            <a:pPr marL="0" indent="0">
              <a:buNone/>
            </a:pPr>
            <a:r>
              <a:rPr lang="en-US" dirty="0"/>
              <a:t>Applying the SOLID principles to the  codebase offers several important benefits that contribute to long-term software quality and maintainability:</a:t>
            </a:r>
          </a:p>
          <a:p>
            <a:pPr marL="457200" indent="-457200">
              <a:buFont typeface="+mj-lt"/>
              <a:buAutoNum type="arabicPeriod"/>
            </a:pPr>
            <a:r>
              <a:rPr lang="en-US" dirty="0"/>
              <a:t>Code is easier to change without breaking things, making ongoing development         smoother and less risky.</a:t>
            </a:r>
          </a:p>
          <a:p>
            <a:pPr marL="457200" indent="-457200">
              <a:buFont typeface="+mj-lt"/>
              <a:buAutoNum type="arabicPeriod"/>
            </a:pPr>
            <a:r>
              <a:rPr lang="en-US" dirty="0"/>
              <a:t>New features are easier to add, allowing your system to evolve and adapt as requirements change.</a:t>
            </a:r>
          </a:p>
          <a:p>
            <a:pPr marL="457200" indent="-457200">
              <a:buFont typeface="+mj-lt"/>
              <a:buAutoNum type="arabicPeriod"/>
            </a:pPr>
            <a:r>
              <a:rPr lang="en-US" dirty="0"/>
              <a:t>Code is easier to test, which leads to more reliable software and simpler quality assurance processes.</a:t>
            </a:r>
          </a:p>
          <a:p>
            <a:pPr marL="457200" indent="-457200">
              <a:buFont typeface="+mj-lt"/>
              <a:buAutoNum type="arabicPeriod"/>
            </a:pPr>
            <a:r>
              <a:rPr lang="en-US" dirty="0"/>
              <a:t>Bugs are easier to fix without causing new ones, reducing the likelihood of introducing regressions.</a:t>
            </a:r>
          </a:p>
          <a:p>
            <a:pPr marL="457200" indent="-457200">
              <a:buFont typeface="+mj-lt"/>
              <a:buAutoNum type="arabicPeriod"/>
            </a:pPr>
            <a:r>
              <a:rPr lang="en-US" dirty="0"/>
              <a:t>The system is easier to grow over time, supporting scalability and ongoing project success.</a:t>
            </a:r>
          </a:p>
          <a:p>
            <a:endParaRPr lang="en-IN" dirty="0"/>
          </a:p>
        </p:txBody>
      </p:sp>
    </p:spTree>
    <p:extLst>
      <p:ext uri="{BB962C8B-B14F-4D97-AF65-F5344CB8AC3E}">
        <p14:creationId xmlns:p14="http://schemas.microsoft.com/office/powerpoint/2010/main" val="2493695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42D7-CC4D-1ABF-E778-C1D449BFBD85}"/>
              </a:ext>
            </a:extLst>
          </p:cNvPr>
          <p:cNvSpPr>
            <a:spLocks noGrp="1"/>
          </p:cNvSpPr>
          <p:nvPr>
            <p:ph type="title"/>
          </p:nvPr>
        </p:nvSpPr>
        <p:spPr>
          <a:xfrm>
            <a:off x="341906" y="506737"/>
            <a:ext cx="9968179" cy="1080938"/>
          </a:xfrm>
        </p:spPr>
        <p:txBody>
          <a:bodyPr/>
          <a:lstStyle/>
          <a:p>
            <a:pPr marL="742950" indent="-742950">
              <a:buFont typeface="+mj-lt"/>
              <a:buAutoNum type="arabicPeriod"/>
            </a:pPr>
            <a:r>
              <a:rPr lang="en-IN" b="1" dirty="0"/>
              <a:t>Single-responsibility principle</a:t>
            </a:r>
          </a:p>
        </p:txBody>
      </p:sp>
      <p:sp>
        <p:nvSpPr>
          <p:cNvPr id="11" name="Content Placeholder 10">
            <a:extLst>
              <a:ext uri="{FF2B5EF4-FFF2-40B4-BE49-F238E27FC236}">
                <a16:creationId xmlns:a16="http://schemas.microsoft.com/office/drawing/2014/main" id="{5A1B8461-5EF9-3181-0967-CB0DA4354FE5}"/>
              </a:ext>
            </a:extLst>
          </p:cNvPr>
          <p:cNvSpPr>
            <a:spLocks noGrp="1"/>
          </p:cNvSpPr>
          <p:nvPr>
            <p:ph idx="1"/>
          </p:nvPr>
        </p:nvSpPr>
        <p:spPr>
          <a:xfrm>
            <a:off x="93729" y="2317835"/>
            <a:ext cx="8682823" cy="1920209"/>
          </a:xfrm>
        </p:spPr>
        <p:txBody>
          <a:bodyPr>
            <a:normAutofit fontScale="92500" lnSpcReduction="10000"/>
          </a:bodyPr>
          <a:lstStyle/>
          <a:p>
            <a:r>
              <a:rPr lang="en-US" dirty="0"/>
              <a:t>The idea behind single responsibility is simple. Don’t make a class handle more than it should. A class should handle one specific task and have only one reason to change.</a:t>
            </a:r>
          </a:p>
          <a:p>
            <a:r>
              <a:rPr lang="en-US" dirty="0"/>
              <a:t>For example, in a library system, a book class should deal only with book data. Saving files or printing details should be handled by separate classes.</a:t>
            </a:r>
          </a:p>
          <a:p>
            <a:endParaRPr lang="en-IN" dirty="0"/>
          </a:p>
        </p:txBody>
      </p:sp>
      <p:pic>
        <p:nvPicPr>
          <p:cNvPr id="21" name="Picture 20">
            <a:extLst>
              <a:ext uri="{FF2B5EF4-FFF2-40B4-BE49-F238E27FC236}">
                <a16:creationId xmlns:a16="http://schemas.microsoft.com/office/drawing/2014/main" id="{7EDFE362-B6D8-E412-9715-D05E41D61915}"/>
              </a:ext>
            </a:extLst>
          </p:cNvPr>
          <p:cNvPicPr>
            <a:picLocks noChangeAspect="1"/>
          </p:cNvPicPr>
          <p:nvPr/>
        </p:nvPicPr>
        <p:blipFill>
          <a:blip r:embed="rId2"/>
          <a:stretch>
            <a:fillRect/>
          </a:stretch>
        </p:blipFill>
        <p:spPr>
          <a:xfrm>
            <a:off x="6073138" y="3413758"/>
            <a:ext cx="45724" cy="30483"/>
          </a:xfrm>
          <a:prstGeom prst="rect">
            <a:avLst/>
          </a:prstGeom>
        </p:spPr>
      </p:pic>
    </p:spTree>
    <p:extLst>
      <p:ext uri="{BB962C8B-B14F-4D97-AF65-F5344CB8AC3E}">
        <p14:creationId xmlns:p14="http://schemas.microsoft.com/office/powerpoint/2010/main" val="1912633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54212-6816-52E4-EF9A-AC2AEC4C2D42}"/>
              </a:ext>
            </a:extLst>
          </p:cNvPr>
          <p:cNvSpPr>
            <a:spLocks noGrp="1"/>
          </p:cNvSpPr>
          <p:nvPr>
            <p:ph type="title"/>
          </p:nvPr>
        </p:nvSpPr>
        <p:spPr/>
        <p:txBody>
          <a:bodyPr/>
          <a:lstStyle/>
          <a:p>
            <a:endParaRPr lang="en-IN"/>
          </a:p>
        </p:txBody>
      </p:sp>
      <p:sp>
        <p:nvSpPr>
          <p:cNvPr id="10" name="TextBox 9">
            <a:extLst>
              <a:ext uri="{FF2B5EF4-FFF2-40B4-BE49-F238E27FC236}">
                <a16:creationId xmlns:a16="http://schemas.microsoft.com/office/drawing/2014/main" id="{CAB5D1C6-66D6-1098-FF2B-E9D4387E8B43}"/>
              </a:ext>
            </a:extLst>
          </p:cNvPr>
          <p:cNvSpPr txBox="1"/>
          <p:nvPr/>
        </p:nvSpPr>
        <p:spPr>
          <a:xfrm>
            <a:off x="1562082" y="128279"/>
            <a:ext cx="5224007" cy="369332"/>
          </a:xfrm>
          <a:prstGeom prst="rect">
            <a:avLst/>
          </a:prstGeom>
          <a:noFill/>
        </p:spPr>
        <p:txBody>
          <a:bodyPr wrap="square" rtlCol="0">
            <a:spAutoFit/>
          </a:bodyPr>
          <a:lstStyle/>
          <a:p>
            <a:r>
              <a:rPr lang="en-US" b="1"/>
              <a:t>A class that fails SRP</a:t>
            </a:r>
          </a:p>
        </p:txBody>
      </p:sp>
      <p:pic>
        <p:nvPicPr>
          <p:cNvPr id="15" name="Content Placeholder 14">
            <a:extLst>
              <a:ext uri="{FF2B5EF4-FFF2-40B4-BE49-F238E27FC236}">
                <a16:creationId xmlns:a16="http://schemas.microsoft.com/office/drawing/2014/main" id="{D722B03E-FDC0-3F6D-43E7-6B6F0214953E}"/>
              </a:ext>
            </a:extLst>
          </p:cNvPr>
          <p:cNvPicPr>
            <a:picLocks noGrp="1" noChangeAspect="1"/>
          </p:cNvPicPr>
          <p:nvPr>
            <p:ph idx="1"/>
          </p:nvPr>
        </p:nvPicPr>
        <p:blipFill>
          <a:blip r:embed="rId2"/>
          <a:stretch>
            <a:fillRect/>
          </a:stretch>
        </p:blipFill>
        <p:spPr>
          <a:xfrm>
            <a:off x="204512" y="604252"/>
            <a:ext cx="5719209" cy="6253748"/>
          </a:xfrm>
        </p:spPr>
      </p:pic>
      <p:sp>
        <p:nvSpPr>
          <p:cNvPr id="18" name="TextBox 17">
            <a:extLst>
              <a:ext uri="{FF2B5EF4-FFF2-40B4-BE49-F238E27FC236}">
                <a16:creationId xmlns:a16="http://schemas.microsoft.com/office/drawing/2014/main" id="{76E94D56-A5B0-A125-C2C5-7E45892EA6F8}"/>
              </a:ext>
            </a:extLst>
          </p:cNvPr>
          <p:cNvSpPr txBox="1"/>
          <p:nvPr/>
        </p:nvSpPr>
        <p:spPr>
          <a:xfrm>
            <a:off x="6035040" y="3514477"/>
            <a:ext cx="4945712" cy="923330"/>
          </a:xfrm>
          <a:prstGeom prst="rect">
            <a:avLst/>
          </a:prstGeom>
          <a:noFill/>
        </p:spPr>
        <p:txBody>
          <a:bodyPr wrap="square" rtlCol="0">
            <a:spAutoFit/>
          </a:bodyPr>
          <a:lstStyle/>
          <a:p>
            <a:r>
              <a:rPr lang="en-US" dirty="0"/>
              <a:t>In this example, Book handles data, saving, and printing. That’s too much responsibility for one class.</a:t>
            </a:r>
            <a:endParaRPr lang="en-IN" dirty="0"/>
          </a:p>
        </p:txBody>
      </p:sp>
    </p:spTree>
    <p:extLst>
      <p:ext uri="{BB962C8B-B14F-4D97-AF65-F5344CB8AC3E}">
        <p14:creationId xmlns:p14="http://schemas.microsoft.com/office/powerpoint/2010/main" val="555754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D69EF-768E-88E3-03AC-1736CEBDBD57}"/>
              </a:ext>
            </a:extLst>
          </p:cNvPr>
          <p:cNvSpPr>
            <a:spLocks noGrp="1"/>
          </p:cNvSpPr>
          <p:nvPr>
            <p:ph type="title"/>
          </p:nvPr>
        </p:nvSpPr>
        <p:spPr>
          <a:xfrm>
            <a:off x="203243" y="769130"/>
            <a:ext cx="9613861" cy="1080938"/>
          </a:xfrm>
        </p:spPr>
        <p:txBody>
          <a:bodyPr/>
          <a:lstStyle/>
          <a:p>
            <a:r>
              <a:rPr lang="en-IN" b="1" dirty="0"/>
              <a:t>2: Open/closed principle</a:t>
            </a:r>
            <a:br>
              <a:rPr lang="en-IN" b="1" dirty="0"/>
            </a:br>
            <a:endParaRPr lang="en-IN" dirty="0"/>
          </a:p>
        </p:txBody>
      </p:sp>
      <p:sp>
        <p:nvSpPr>
          <p:cNvPr id="3" name="Content Placeholder 2">
            <a:extLst>
              <a:ext uri="{FF2B5EF4-FFF2-40B4-BE49-F238E27FC236}">
                <a16:creationId xmlns:a16="http://schemas.microsoft.com/office/drawing/2014/main" id="{7CFA4978-300A-0B35-4D61-3FCD92A70270}"/>
              </a:ext>
            </a:extLst>
          </p:cNvPr>
          <p:cNvSpPr>
            <a:spLocks noGrp="1"/>
          </p:cNvSpPr>
          <p:nvPr>
            <p:ph idx="1"/>
          </p:nvPr>
        </p:nvSpPr>
        <p:spPr>
          <a:xfrm>
            <a:off x="203243" y="2878371"/>
            <a:ext cx="5769077" cy="2059389"/>
          </a:xfrm>
        </p:spPr>
        <p:txBody>
          <a:bodyPr/>
          <a:lstStyle/>
          <a:p>
            <a:endParaRPr lang="en-IN" dirty="0"/>
          </a:p>
        </p:txBody>
      </p:sp>
      <p:pic>
        <p:nvPicPr>
          <p:cNvPr id="4" name="Picture 3">
            <a:extLst>
              <a:ext uri="{FF2B5EF4-FFF2-40B4-BE49-F238E27FC236}">
                <a16:creationId xmlns:a16="http://schemas.microsoft.com/office/drawing/2014/main" id="{E162DC57-F550-F5A8-B49D-BA63E31B18AC}"/>
              </a:ext>
            </a:extLst>
          </p:cNvPr>
          <p:cNvPicPr>
            <a:picLocks noChangeAspect="1"/>
          </p:cNvPicPr>
          <p:nvPr/>
        </p:nvPicPr>
        <p:blipFill>
          <a:blip r:embed="rId2"/>
          <a:stretch>
            <a:fillRect/>
          </a:stretch>
        </p:blipFill>
        <p:spPr>
          <a:xfrm>
            <a:off x="203243" y="622354"/>
            <a:ext cx="5890770" cy="6163374"/>
          </a:xfrm>
          <a:prstGeom prst="rect">
            <a:avLst/>
          </a:prstGeom>
        </p:spPr>
      </p:pic>
      <p:sp>
        <p:nvSpPr>
          <p:cNvPr id="5" name="TextBox 4">
            <a:extLst>
              <a:ext uri="{FF2B5EF4-FFF2-40B4-BE49-F238E27FC236}">
                <a16:creationId xmlns:a16="http://schemas.microsoft.com/office/drawing/2014/main" id="{9D70F518-01E6-8B61-CF4C-366C43EA26FF}"/>
              </a:ext>
            </a:extLst>
          </p:cNvPr>
          <p:cNvSpPr txBox="1"/>
          <p:nvPr/>
        </p:nvSpPr>
        <p:spPr>
          <a:xfrm>
            <a:off x="1582310" y="72272"/>
            <a:ext cx="5072932" cy="369332"/>
          </a:xfrm>
          <a:prstGeom prst="rect">
            <a:avLst/>
          </a:prstGeom>
          <a:noFill/>
        </p:spPr>
        <p:txBody>
          <a:bodyPr wrap="square" rtlCol="0">
            <a:spAutoFit/>
          </a:bodyPr>
          <a:lstStyle/>
          <a:p>
            <a:r>
              <a:rPr lang="en-IN" b="1"/>
              <a:t>Applying SRP</a:t>
            </a:r>
          </a:p>
        </p:txBody>
      </p:sp>
      <p:sp>
        <p:nvSpPr>
          <p:cNvPr id="7" name="TextBox 6">
            <a:extLst>
              <a:ext uri="{FF2B5EF4-FFF2-40B4-BE49-F238E27FC236}">
                <a16:creationId xmlns:a16="http://schemas.microsoft.com/office/drawing/2014/main" id="{91B76DF2-C850-344F-833B-59896F5D8186}"/>
              </a:ext>
            </a:extLst>
          </p:cNvPr>
          <p:cNvSpPr txBox="1"/>
          <p:nvPr/>
        </p:nvSpPr>
        <p:spPr>
          <a:xfrm>
            <a:off x="6094013" y="2177594"/>
            <a:ext cx="4985468" cy="1754326"/>
          </a:xfrm>
          <a:prstGeom prst="rect">
            <a:avLst/>
          </a:prstGeom>
          <a:noFill/>
        </p:spPr>
        <p:txBody>
          <a:bodyPr wrap="square" rtlCol="0">
            <a:spAutoFit/>
          </a:bodyPr>
          <a:lstStyle/>
          <a:p>
            <a:r>
              <a:rPr lang="en-US" dirty="0"/>
              <a:t>Now, each class has a single purpose:</a:t>
            </a:r>
          </a:p>
          <a:p>
            <a:endParaRPr lang="en-US" dirty="0"/>
          </a:p>
          <a:p>
            <a:pPr marL="342900" indent="-342900">
              <a:buFont typeface="+mj-lt"/>
              <a:buAutoNum type="arabicPeriod"/>
            </a:pPr>
            <a:r>
              <a:rPr lang="en-US" dirty="0"/>
              <a:t>Book holds data</a:t>
            </a:r>
          </a:p>
          <a:p>
            <a:pPr marL="342900" indent="-342900">
              <a:buFont typeface="+mj-lt"/>
              <a:buAutoNum type="arabicPeriod"/>
            </a:pPr>
            <a:r>
              <a:rPr lang="en-US" dirty="0" err="1"/>
              <a:t>BookSaver</a:t>
            </a:r>
            <a:r>
              <a:rPr lang="en-US" dirty="0"/>
              <a:t> handles saving</a:t>
            </a:r>
          </a:p>
          <a:p>
            <a:pPr marL="342900" indent="-342900">
              <a:buFont typeface="+mj-lt"/>
              <a:buAutoNum type="arabicPeriod"/>
            </a:pPr>
            <a:r>
              <a:rPr lang="en-US" dirty="0" err="1"/>
              <a:t>BookPrinter</a:t>
            </a:r>
            <a:r>
              <a:rPr lang="en-US" dirty="0"/>
              <a:t> handles output</a:t>
            </a:r>
          </a:p>
          <a:p>
            <a:endParaRPr lang="en-US" dirty="0"/>
          </a:p>
        </p:txBody>
      </p:sp>
      <p:sp>
        <p:nvSpPr>
          <p:cNvPr id="8" name="TextBox 7">
            <a:extLst>
              <a:ext uri="{FF2B5EF4-FFF2-40B4-BE49-F238E27FC236}">
                <a16:creationId xmlns:a16="http://schemas.microsoft.com/office/drawing/2014/main" id="{F67F65C7-2014-EC99-34F5-A9BD2CA8F040}"/>
              </a:ext>
            </a:extLst>
          </p:cNvPr>
          <p:cNvSpPr txBox="1"/>
          <p:nvPr/>
        </p:nvSpPr>
        <p:spPr>
          <a:xfrm>
            <a:off x="6094013" y="4556097"/>
            <a:ext cx="6016437" cy="923330"/>
          </a:xfrm>
          <a:prstGeom prst="rect">
            <a:avLst/>
          </a:prstGeom>
          <a:noFill/>
        </p:spPr>
        <p:txBody>
          <a:bodyPr wrap="square" rtlCol="0">
            <a:spAutoFit/>
          </a:bodyPr>
          <a:lstStyle/>
          <a:p>
            <a:r>
              <a:rPr lang="en-US"/>
              <a:t>Why is this better? Each class does one thing. Changes to saving or printing won’t affect the core Book class, and the code is easier to test and maintain.</a:t>
            </a:r>
            <a:endParaRPr lang="en-IN" dirty="0"/>
          </a:p>
        </p:txBody>
      </p:sp>
    </p:spTree>
    <p:extLst>
      <p:ext uri="{BB962C8B-B14F-4D97-AF65-F5344CB8AC3E}">
        <p14:creationId xmlns:p14="http://schemas.microsoft.com/office/powerpoint/2010/main" val="4238468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C469A-BCB3-187F-09B2-C60F063E3EC4}"/>
              </a:ext>
            </a:extLst>
          </p:cNvPr>
          <p:cNvSpPr>
            <a:spLocks noGrp="1"/>
          </p:cNvSpPr>
          <p:nvPr>
            <p:ph type="title"/>
          </p:nvPr>
        </p:nvSpPr>
        <p:spPr>
          <a:xfrm>
            <a:off x="680322" y="753228"/>
            <a:ext cx="6778002" cy="1067622"/>
          </a:xfrm>
        </p:spPr>
        <p:txBody>
          <a:bodyPr>
            <a:normAutofit fontScale="90000"/>
          </a:bodyPr>
          <a:lstStyle/>
          <a:p>
            <a:r>
              <a:rPr lang="en-IN" b="1" dirty="0"/>
              <a:t>2: Open/closed principle</a:t>
            </a:r>
            <a:br>
              <a:rPr lang="en-IN" b="1" dirty="0"/>
            </a:br>
            <a:endParaRPr lang="en-IN" dirty="0"/>
          </a:p>
        </p:txBody>
      </p:sp>
      <p:sp>
        <p:nvSpPr>
          <p:cNvPr id="3" name="Content Placeholder 2">
            <a:extLst>
              <a:ext uri="{FF2B5EF4-FFF2-40B4-BE49-F238E27FC236}">
                <a16:creationId xmlns:a16="http://schemas.microsoft.com/office/drawing/2014/main" id="{50DD32EF-7A9E-1D0B-6840-ECC7AA0D91D2}"/>
              </a:ext>
            </a:extLst>
          </p:cNvPr>
          <p:cNvSpPr>
            <a:spLocks noGrp="1"/>
          </p:cNvSpPr>
          <p:nvPr>
            <p:ph idx="1"/>
          </p:nvPr>
        </p:nvSpPr>
        <p:spPr>
          <a:xfrm>
            <a:off x="680323" y="2265312"/>
            <a:ext cx="8527288" cy="3141575"/>
          </a:xfrm>
        </p:spPr>
        <p:txBody>
          <a:bodyPr/>
          <a:lstStyle/>
          <a:p>
            <a:pPr marL="0" indent="0">
              <a:buNone/>
            </a:pPr>
            <a:r>
              <a:rPr lang="en-US" dirty="0"/>
              <a:t>The open/closed principle means that software components like classes and functions should be</a:t>
            </a:r>
          </a:p>
          <a:p>
            <a:endParaRPr lang="en-US" dirty="0"/>
          </a:p>
          <a:p>
            <a:r>
              <a:rPr lang="en-US" b="1" dirty="0"/>
              <a:t>Open for extension:</a:t>
            </a:r>
            <a:r>
              <a:rPr lang="en-US" dirty="0"/>
              <a:t> You should be able to add new functionality to your code.</a:t>
            </a:r>
          </a:p>
          <a:p>
            <a:r>
              <a:rPr lang="en-US" b="1" dirty="0"/>
              <a:t>Closed for modification:</a:t>
            </a:r>
            <a:r>
              <a:rPr lang="en-US" dirty="0"/>
              <a:t> You should not have to change the existing code to add that new functionality.</a:t>
            </a:r>
          </a:p>
          <a:p>
            <a:endParaRPr lang="en-IN" dirty="0"/>
          </a:p>
        </p:txBody>
      </p:sp>
    </p:spTree>
    <p:extLst>
      <p:ext uri="{BB962C8B-B14F-4D97-AF65-F5344CB8AC3E}">
        <p14:creationId xmlns:p14="http://schemas.microsoft.com/office/powerpoint/2010/main" val="3968886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456A0-58EA-F870-4525-5F28D4E38D4C}"/>
              </a:ext>
            </a:extLst>
          </p:cNvPr>
          <p:cNvSpPr>
            <a:spLocks noGrp="1"/>
          </p:cNvSpPr>
          <p:nvPr>
            <p:ph type="title"/>
          </p:nvPr>
        </p:nvSpPr>
        <p:spPr>
          <a:xfrm>
            <a:off x="490194" y="1156915"/>
            <a:ext cx="5744332" cy="648031"/>
          </a:xfrm>
        </p:spPr>
        <p:txBody>
          <a:bodyPr>
            <a:normAutofit fontScale="90000"/>
          </a:bodyPr>
          <a:lstStyle/>
          <a:p>
            <a:r>
              <a:rPr lang="en-US" b="1" dirty="0"/>
              <a:t>A design that fails OCP</a:t>
            </a:r>
            <a:br>
              <a:rPr lang="en-US" b="1" dirty="0"/>
            </a:br>
            <a:endParaRPr lang="en-IN" dirty="0"/>
          </a:p>
        </p:txBody>
      </p:sp>
      <p:pic>
        <p:nvPicPr>
          <p:cNvPr id="5" name="Content Placeholder 4">
            <a:extLst>
              <a:ext uri="{FF2B5EF4-FFF2-40B4-BE49-F238E27FC236}">
                <a16:creationId xmlns:a16="http://schemas.microsoft.com/office/drawing/2014/main" id="{6004376A-53DD-34BC-C39C-323B613DBA91}"/>
              </a:ext>
            </a:extLst>
          </p:cNvPr>
          <p:cNvPicPr>
            <a:picLocks noGrp="1" noChangeAspect="1"/>
          </p:cNvPicPr>
          <p:nvPr>
            <p:ph idx="1"/>
          </p:nvPr>
        </p:nvPicPr>
        <p:blipFill>
          <a:blip r:embed="rId2"/>
          <a:stretch>
            <a:fillRect/>
          </a:stretch>
        </p:blipFill>
        <p:spPr>
          <a:xfrm>
            <a:off x="800999" y="2125905"/>
            <a:ext cx="4947793" cy="4068161"/>
          </a:xfrm>
        </p:spPr>
      </p:pic>
      <p:sp>
        <p:nvSpPr>
          <p:cNvPr id="6" name="TextBox 5">
            <a:extLst>
              <a:ext uri="{FF2B5EF4-FFF2-40B4-BE49-F238E27FC236}">
                <a16:creationId xmlns:a16="http://schemas.microsoft.com/office/drawing/2014/main" id="{36B739ED-2BFF-EB80-B2B0-EE4CBB688DA1}"/>
              </a:ext>
            </a:extLst>
          </p:cNvPr>
          <p:cNvSpPr txBox="1"/>
          <p:nvPr/>
        </p:nvSpPr>
        <p:spPr>
          <a:xfrm>
            <a:off x="6096000" y="2828835"/>
            <a:ext cx="5942275" cy="1200329"/>
          </a:xfrm>
          <a:prstGeom prst="rect">
            <a:avLst/>
          </a:prstGeom>
          <a:noFill/>
        </p:spPr>
        <p:txBody>
          <a:bodyPr wrap="square" rtlCol="0">
            <a:spAutoFit/>
          </a:bodyPr>
          <a:lstStyle/>
          <a:p>
            <a:r>
              <a:rPr lang="en-US" dirty="0"/>
              <a:t>The problem here is that every time you want to support a new type of notification (like push notifications), you must modify Notifier. This violates OCP.</a:t>
            </a:r>
            <a:endParaRPr lang="en-IN" dirty="0"/>
          </a:p>
        </p:txBody>
      </p:sp>
    </p:spTree>
    <p:extLst>
      <p:ext uri="{BB962C8B-B14F-4D97-AF65-F5344CB8AC3E}">
        <p14:creationId xmlns:p14="http://schemas.microsoft.com/office/powerpoint/2010/main" val="2473776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78A05-0430-637F-77DC-1B14B7A0BB3D}"/>
              </a:ext>
            </a:extLst>
          </p:cNvPr>
          <p:cNvSpPr>
            <a:spLocks noGrp="1"/>
          </p:cNvSpPr>
          <p:nvPr>
            <p:ph type="title"/>
          </p:nvPr>
        </p:nvSpPr>
        <p:spPr>
          <a:xfrm>
            <a:off x="221391" y="1158743"/>
            <a:ext cx="5795096" cy="622349"/>
          </a:xfrm>
        </p:spPr>
        <p:txBody>
          <a:bodyPr>
            <a:normAutofit fontScale="90000"/>
          </a:bodyPr>
          <a:lstStyle/>
          <a:p>
            <a:r>
              <a:rPr lang="en-IN" b="1" dirty="0"/>
              <a:t>Applying OCP with extension</a:t>
            </a:r>
            <a:br>
              <a:rPr lang="en-IN" b="1" dirty="0"/>
            </a:br>
            <a:endParaRPr lang="en-IN" dirty="0"/>
          </a:p>
        </p:txBody>
      </p:sp>
      <p:pic>
        <p:nvPicPr>
          <p:cNvPr id="5" name="Content Placeholder 4">
            <a:extLst>
              <a:ext uri="{FF2B5EF4-FFF2-40B4-BE49-F238E27FC236}">
                <a16:creationId xmlns:a16="http://schemas.microsoft.com/office/drawing/2014/main" id="{E60D623A-A918-FD25-2BAD-63877CCADDFF}"/>
              </a:ext>
            </a:extLst>
          </p:cNvPr>
          <p:cNvPicPr>
            <a:picLocks noGrp="1" noChangeAspect="1"/>
          </p:cNvPicPr>
          <p:nvPr>
            <p:ph idx="1"/>
          </p:nvPr>
        </p:nvPicPr>
        <p:blipFill>
          <a:blip r:embed="rId2"/>
          <a:stretch>
            <a:fillRect/>
          </a:stretch>
        </p:blipFill>
        <p:spPr>
          <a:xfrm>
            <a:off x="403419" y="2765141"/>
            <a:ext cx="5186348" cy="3850343"/>
          </a:xfrm>
        </p:spPr>
      </p:pic>
      <p:sp>
        <p:nvSpPr>
          <p:cNvPr id="7" name="TextBox 6">
            <a:extLst>
              <a:ext uri="{FF2B5EF4-FFF2-40B4-BE49-F238E27FC236}">
                <a16:creationId xmlns:a16="http://schemas.microsoft.com/office/drawing/2014/main" id="{8E674629-8F05-792A-0974-4533B73823DF}"/>
              </a:ext>
            </a:extLst>
          </p:cNvPr>
          <p:cNvSpPr txBox="1"/>
          <p:nvPr/>
        </p:nvSpPr>
        <p:spPr>
          <a:xfrm>
            <a:off x="461176" y="2218414"/>
            <a:ext cx="9986838" cy="369332"/>
          </a:xfrm>
          <a:prstGeom prst="rect">
            <a:avLst/>
          </a:prstGeom>
          <a:noFill/>
        </p:spPr>
        <p:txBody>
          <a:bodyPr wrap="square" rtlCol="0">
            <a:spAutoFit/>
          </a:bodyPr>
          <a:lstStyle/>
          <a:p>
            <a:r>
              <a:rPr lang="en-US"/>
              <a:t>We can create a base interface and let each notification type handle its own logic.</a:t>
            </a:r>
            <a:endParaRPr lang="en-IN" dirty="0"/>
          </a:p>
        </p:txBody>
      </p:sp>
      <p:sp>
        <p:nvSpPr>
          <p:cNvPr id="8" name="TextBox 7">
            <a:extLst>
              <a:ext uri="{FF2B5EF4-FFF2-40B4-BE49-F238E27FC236}">
                <a16:creationId xmlns:a16="http://schemas.microsoft.com/office/drawing/2014/main" id="{F51A4CBB-F603-B80B-7662-4F42403B3D7B}"/>
              </a:ext>
            </a:extLst>
          </p:cNvPr>
          <p:cNvSpPr txBox="1"/>
          <p:nvPr/>
        </p:nvSpPr>
        <p:spPr>
          <a:xfrm>
            <a:off x="6329239" y="3021496"/>
            <a:ext cx="5669280" cy="1754326"/>
          </a:xfrm>
          <a:prstGeom prst="rect">
            <a:avLst/>
          </a:prstGeom>
          <a:noFill/>
        </p:spPr>
        <p:txBody>
          <a:bodyPr wrap="square" rtlCol="0">
            <a:spAutoFit/>
          </a:bodyPr>
          <a:lstStyle/>
          <a:p>
            <a:r>
              <a:rPr lang="en-US" dirty="0"/>
              <a:t>If we later need push notifications, create a new class.</a:t>
            </a:r>
          </a:p>
          <a:p>
            <a:endParaRPr lang="en-US" dirty="0"/>
          </a:p>
          <a:p>
            <a:r>
              <a:rPr lang="en-US" dirty="0"/>
              <a:t>No change to Notifier is needed. The design is open for extension but closed for modification, as OCP recommends.</a:t>
            </a:r>
            <a:endParaRPr lang="en-IN" dirty="0"/>
          </a:p>
        </p:txBody>
      </p:sp>
    </p:spTree>
    <p:extLst>
      <p:ext uri="{BB962C8B-B14F-4D97-AF65-F5344CB8AC3E}">
        <p14:creationId xmlns:p14="http://schemas.microsoft.com/office/powerpoint/2010/main" val="8536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F305-7805-98A1-133E-41609B27CAE2}"/>
              </a:ext>
            </a:extLst>
          </p:cNvPr>
          <p:cNvSpPr>
            <a:spLocks noGrp="1"/>
          </p:cNvSpPr>
          <p:nvPr>
            <p:ph type="title"/>
          </p:nvPr>
        </p:nvSpPr>
        <p:spPr>
          <a:xfrm>
            <a:off x="227098" y="1080837"/>
            <a:ext cx="7493619" cy="604839"/>
          </a:xfrm>
        </p:spPr>
        <p:txBody>
          <a:bodyPr>
            <a:normAutofit fontScale="90000"/>
          </a:bodyPr>
          <a:lstStyle/>
          <a:p>
            <a:r>
              <a:rPr lang="en-IN" b="1" dirty="0"/>
              <a:t>3: </a:t>
            </a:r>
            <a:r>
              <a:rPr lang="en-IN" b="1" dirty="0" err="1"/>
              <a:t>Liskov</a:t>
            </a:r>
            <a:r>
              <a:rPr lang="en-IN" b="1" dirty="0"/>
              <a:t> substitution principle</a:t>
            </a:r>
            <a:br>
              <a:rPr lang="en-IN" b="1" dirty="0"/>
            </a:br>
            <a:endParaRPr lang="en-IN" dirty="0"/>
          </a:p>
        </p:txBody>
      </p:sp>
      <p:sp>
        <p:nvSpPr>
          <p:cNvPr id="3" name="Content Placeholder 2">
            <a:extLst>
              <a:ext uri="{FF2B5EF4-FFF2-40B4-BE49-F238E27FC236}">
                <a16:creationId xmlns:a16="http://schemas.microsoft.com/office/drawing/2014/main" id="{749A9388-785A-4CDE-C0EA-A5D54A61152E}"/>
              </a:ext>
            </a:extLst>
          </p:cNvPr>
          <p:cNvSpPr>
            <a:spLocks noGrp="1"/>
          </p:cNvSpPr>
          <p:nvPr>
            <p:ph idx="1"/>
          </p:nvPr>
        </p:nvSpPr>
        <p:spPr>
          <a:xfrm>
            <a:off x="680322" y="2336873"/>
            <a:ext cx="8956660" cy="1638779"/>
          </a:xfrm>
        </p:spPr>
        <p:txBody>
          <a:bodyPr/>
          <a:lstStyle/>
          <a:p>
            <a:r>
              <a:rPr lang="en-US" dirty="0"/>
              <a:t>The </a:t>
            </a:r>
            <a:r>
              <a:rPr lang="en-US" dirty="0" err="1"/>
              <a:t>Liskov</a:t>
            </a:r>
            <a:r>
              <a:rPr lang="en-US" dirty="0"/>
              <a:t> Substitution Principle suggests a subclass should work anywhere its parent class works, without causing problems. That keeps systems reliable and predictable when extended.</a:t>
            </a:r>
            <a:endParaRPr lang="en-IN" dirty="0"/>
          </a:p>
        </p:txBody>
      </p:sp>
    </p:spTree>
    <p:extLst>
      <p:ext uri="{BB962C8B-B14F-4D97-AF65-F5344CB8AC3E}">
        <p14:creationId xmlns:p14="http://schemas.microsoft.com/office/powerpoint/2010/main" val="1171852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6F267-A802-1158-AD7F-F159AEC9A32A}"/>
              </a:ext>
            </a:extLst>
          </p:cNvPr>
          <p:cNvSpPr>
            <a:spLocks noGrp="1"/>
          </p:cNvSpPr>
          <p:nvPr>
            <p:ph type="title"/>
          </p:nvPr>
        </p:nvSpPr>
        <p:spPr>
          <a:xfrm>
            <a:off x="197944" y="1023572"/>
            <a:ext cx="4885591" cy="996059"/>
          </a:xfrm>
        </p:spPr>
        <p:txBody>
          <a:bodyPr>
            <a:normAutofit fontScale="90000"/>
          </a:bodyPr>
          <a:lstStyle/>
          <a:p>
            <a:r>
              <a:rPr lang="en-US" b="1" dirty="0"/>
              <a:t>A class that fails LSP</a:t>
            </a:r>
            <a:br>
              <a:rPr lang="en-US" b="1" dirty="0"/>
            </a:br>
            <a:endParaRPr lang="en-IN" dirty="0"/>
          </a:p>
        </p:txBody>
      </p:sp>
      <p:pic>
        <p:nvPicPr>
          <p:cNvPr id="5" name="Content Placeholder 4">
            <a:extLst>
              <a:ext uri="{FF2B5EF4-FFF2-40B4-BE49-F238E27FC236}">
                <a16:creationId xmlns:a16="http://schemas.microsoft.com/office/drawing/2014/main" id="{DC6ABDE8-7809-9A08-85ED-7EB67805F46D}"/>
              </a:ext>
            </a:extLst>
          </p:cNvPr>
          <p:cNvPicPr>
            <a:picLocks noGrp="1" noChangeAspect="1"/>
          </p:cNvPicPr>
          <p:nvPr>
            <p:ph idx="1"/>
          </p:nvPr>
        </p:nvPicPr>
        <p:blipFill>
          <a:blip r:embed="rId2"/>
          <a:stretch>
            <a:fillRect/>
          </a:stretch>
        </p:blipFill>
        <p:spPr>
          <a:xfrm>
            <a:off x="197944" y="2370567"/>
            <a:ext cx="6131294" cy="3990475"/>
          </a:xfrm>
        </p:spPr>
      </p:pic>
      <p:sp>
        <p:nvSpPr>
          <p:cNvPr id="6" name="TextBox 5">
            <a:extLst>
              <a:ext uri="{FF2B5EF4-FFF2-40B4-BE49-F238E27FC236}">
                <a16:creationId xmlns:a16="http://schemas.microsoft.com/office/drawing/2014/main" id="{B27A9866-B1E5-B996-4821-EC729AB9A53A}"/>
              </a:ext>
            </a:extLst>
          </p:cNvPr>
          <p:cNvSpPr txBox="1"/>
          <p:nvPr/>
        </p:nvSpPr>
        <p:spPr>
          <a:xfrm>
            <a:off x="6424654" y="2019631"/>
            <a:ext cx="5703736" cy="923330"/>
          </a:xfrm>
          <a:prstGeom prst="rect">
            <a:avLst/>
          </a:prstGeom>
          <a:noFill/>
        </p:spPr>
        <p:txBody>
          <a:bodyPr wrap="square" rtlCol="0">
            <a:spAutoFit/>
          </a:bodyPr>
          <a:lstStyle/>
          <a:p>
            <a:r>
              <a:rPr lang="en-US" dirty="0"/>
              <a:t>This code doesn’t follow LSP because a Penguin can’t be passed as a Bird to every function that expects a Bird. Look at the example below.</a:t>
            </a:r>
            <a:endParaRPr lang="en-IN" dirty="0"/>
          </a:p>
        </p:txBody>
      </p:sp>
      <p:pic>
        <p:nvPicPr>
          <p:cNvPr id="8" name="Picture 7">
            <a:extLst>
              <a:ext uri="{FF2B5EF4-FFF2-40B4-BE49-F238E27FC236}">
                <a16:creationId xmlns:a16="http://schemas.microsoft.com/office/drawing/2014/main" id="{126D1BA0-F305-ABF7-D98E-9687414D0778}"/>
              </a:ext>
            </a:extLst>
          </p:cNvPr>
          <p:cNvPicPr>
            <a:picLocks noChangeAspect="1"/>
          </p:cNvPicPr>
          <p:nvPr/>
        </p:nvPicPr>
        <p:blipFill>
          <a:blip r:embed="rId3"/>
          <a:stretch>
            <a:fillRect/>
          </a:stretch>
        </p:blipFill>
        <p:spPr>
          <a:xfrm>
            <a:off x="6532735" y="3022474"/>
            <a:ext cx="4976291" cy="1585097"/>
          </a:xfrm>
          <a:prstGeom prst="rect">
            <a:avLst/>
          </a:prstGeom>
        </p:spPr>
      </p:pic>
      <p:sp>
        <p:nvSpPr>
          <p:cNvPr id="9" name="TextBox 8">
            <a:extLst>
              <a:ext uri="{FF2B5EF4-FFF2-40B4-BE49-F238E27FC236}">
                <a16:creationId xmlns:a16="http://schemas.microsoft.com/office/drawing/2014/main" id="{4E64C1EB-9E6F-FD0A-D956-ABA1E0C3FA7E}"/>
              </a:ext>
            </a:extLst>
          </p:cNvPr>
          <p:cNvSpPr txBox="1"/>
          <p:nvPr/>
        </p:nvSpPr>
        <p:spPr>
          <a:xfrm>
            <a:off x="6532735" y="4882101"/>
            <a:ext cx="4976291" cy="1200329"/>
          </a:xfrm>
          <a:prstGeom prst="rect">
            <a:avLst/>
          </a:prstGeom>
          <a:noFill/>
        </p:spPr>
        <p:txBody>
          <a:bodyPr wrap="square" rtlCol="0">
            <a:spAutoFit/>
          </a:bodyPr>
          <a:lstStyle/>
          <a:p>
            <a:r>
              <a:rPr lang="en-US" dirty="0"/>
              <a:t>The issue is that not all birds can fly, but our design assumes they can because fly() is part of Bird. Penguins don’t truly fit as a Bird that can fly.</a:t>
            </a:r>
            <a:endParaRPr lang="en-IN" dirty="0"/>
          </a:p>
        </p:txBody>
      </p:sp>
    </p:spTree>
    <p:extLst>
      <p:ext uri="{BB962C8B-B14F-4D97-AF65-F5344CB8AC3E}">
        <p14:creationId xmlns:p14="http://schemas.microsoft.com/office/powerpoint/2010/main" val="675850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45C1-6FE9-3FC4-781D-4B10B47DE1F7}"/>
              </a:ext>
            </a:extLst>
          </p:cNvPr>
          <p:cNvSpPr>
            <a:spLocks noGrp="1"/>
          </p:cNvSpPr>
          <p:nvPr>
            <p:ph type="title"/>
          </p:nvPr>
        </p:nvSpPr>
        <p:spPr>
          <a:xfrm>
            <a:off x="616710" y="816838"/>
            <a:ext cx="3859874" cy="670055"/>
          </a:xfrm>
        </p:spPr>
        <p:txBody>
          <a:bodyPr>
            <a:normAutofit fontScale="90000"/>
          </a:bodyPr>
          <a:lstStyle/>
          <a:p>
            <a:r>
              <a:rPr lang="en-IN" b="1" dirty="0"/>
              <a:t>Applying LSP</a:t>
            </a:r>
            <a:br>
              <a:rPr lang="en-IN" b="1" dirty="0"/>
            </a:br>
            <a:endParaRPr lang="en-IN" dirty="0"/>
          </a:p>
        </p:txBody>
      </p:sp>
      <p:sp>
        <p:nvSpPr>
          <p:cNvPr id="4" name="TextBox 3">
            <a:extLst>
              <a:ext uri="{FF2B5EF4-FFF2-40B4-BE49-F238E27FC236}">
                <a16:creationId xmlns:a16="http://schemas.microsoft.com/office/drawing/2014/main" id="{F14D6B06-3A28-DD2F-0972-9F787405A2F3}"/>
              </a:ext>
            </a:extLst>
          </p:cNvPr>
          <p:cNvSpPr txBox="1"/>
          <p:nvPr/>
        </p:nvSpPr>
        <p:spPr>
          <a:xfrm>
            <a:off x="87464" y="1272208"/>
            <a:ext cx="9517711" cy="646331"/>
          </a:xfrm>
          <a:prstGeom prst="rect">
            <a:avLst/>
          </a:prstGeom>
          <a:noFill/>
        </p:spPr>
        <p:txBody>
          <a:bodyPr wrap="square" rtlCol="0">
            <a:spAutoFit/>
          </a:bodyPr>
          <a:lstStyle/>
          <a:p>
            <a:r>
              <a:rPr lang="en-US" dirty="0"/>
              <a:t>The solution is to move abilities like fly() out of Bird and into their own interface. That way, only birds that can actually fly implement it.</a:t>
            </a:r>
            <a:endParaRPr lang="en-IN" dirty="0"/>
          </a:p>
        </p:txBody>
      </p:sp>
      <p:pic>
        <p:nvPicPr>
          <p:cNvPr id="8" name="Picture 7">
            <a:extLst>
              <a:ext uri="{FF2B5EF4-FFF2-40B4-BE49-F238E27FC236}">
                <a16:creationId xmlns:a16="http://schemas.microsoft.com/office/drawing/2014/main" id="{6526C61D-5FEE-F685-D99F-7ADDFA892141}"/>
              </a:ext>
            </a:extLst>
          </p:cNvPr>
          <p:cNvPicPr>
            <a:picLocks noChangeAspect="1"/>
          </p:cNvPicPr>
          <p:nvPr/>
        </p:nvPicPr>
        <p:blipFill>
          <a:blip r:embed="rId2"/>
          <a:stretch>
            <a:fillRect/>
          </a:stretch>
        </p:blipFill>
        <p:spPr>
          <a:xfrm>
            <a:off x="99051" y="2053712"/>
            <a:ext cx="4895192" cy="4748629"/>
          </a:xfrm>
          <a:prstGeom prst="rect">
            <a:avLst/>
          </a:prstGeom>
        </p:spPr>
      </p:pic>
      <p:sp>
        <p:nvSpPr>
          <p:cNvPr id="9" name="TextBox 8">
            <a:extLst>
              <a:ext uri="{FF2B5EF4-FFF2-40B4-BE49-F238E27FC236}">
                <a16:creationId xmlns:a16="http://schemas.microsoft.com/office/drawing/2014/main" id="{9B8129BF-1E17-6855-AE28-5D0F94C21F2E}"/>
              </a:ext>
            </a:extLst>
          </p:cNvPr>
          <p:cNvSpPr txBox="1"/>
          <p:nvPr/>
        </p:nvSpPr>
        <p:spPr>
          <a:xfrm>
            <a:off x="5303521" y="2050743"/>
            <a:ext cx="5963478" cy="646331"/>
          </a:xfrm>
          <a:prstGeom prst="rect">
            <a:avLst/>
          </a:prstGeom>
          <a:noFill/>
        </p:spPr>
        <p:txBody>
          <a:bodyPr wrap="square" rtlCol="0">
            <a:spAutoFit/>
          </a:bodyPr>
          <a:lstStyle/>
          <a:p>
            <a:r>
              <a:rPr lang="en-US"/>
              <a:t>Now, functions that expect flying birds only work with birds that can actually fly.</a:t>
            </a:r>
            <a:endParaRPr lang="en-IN" dirty="0"/>
          </a:p>
        </p:txBody>
      </p:sp>
      <p:pic>
        <p:nvPicPr>
          <p:cNvPr id="11" name="Picture 10">
            <a:extLst>
              <a:ext uri="{FF2B5EF4-FFF2-40B4-BE49-F238E27FC236}">
                <a16:creationId xmlns:a16="http://schemas.microsoft.com/office/drawing/2014/main" id="{BD9D3A9C-4E24-5E12-3934-754BF94FA37B}"/>
              </a:ext>
            </a:extLst>
          </p:cNvPr>
          <p:cNvPicPr>
            <a:picLocks noChangeAspect="1"/>
          </p:cNvPicPr>
          <p:nvPr/>
        </p:nvPicPr>
        <p:blipFill>
          <a:blip r:embed="rId3"/>
          <a:stretch>
            <a:fillRect/>
          </a:stretch>
        </p:blipFill>
        <p:spPr>
          <a:xfrm>
            <a:off x="5707920" y="2829278"/>
            <a:ext cx="2979678" cy="853514"/>
          </a:xfrm>
          <a:prstGeom prst="rect">
            <a:avLst/>
          </a:prstGeom>
        </p:spPr>
      </p:pic>
      <p:sp>
        <p:nvSpPr>
          <p:cNvPr id="12" name="TextBox 11">
            <a:extLst>
              <a:ext uri="{FF2B5EF4-FFF2-40B4-BE49-F238E27FC236}">
                <a16:creationId xmlns:a16="http://schemas.microsoft.com/office/drawing/2014/main" id="{C2D622FE-C8FA-94FE-0BAF-F5715845E2E0}"/>
              </a:ext>
            </a:extLst>
          </p:cNvPr>
          <p:cNvSpPr txBox="1"/>
          <p:nvPr/>
        </p:nvSpPr>
        <p:spPr>
          <a:xfrm>
            <a:off x="5303521" y="3967701"/>
            <a:ext cx="6542939" cy="646331"/>
          </a:xfrm>
          <a:prstGeom prst="rect">
            <a:avLst/>
          </a:prstGeom>
          <a:noFill/>
        </p:spPr>
        <p:txBody>
          <a:bodyPr wrap="square" rtlCol="0">
            <a:spAutoFit/>
          </a:bodyPr>
          <a:lstStyle/>
          <a:p>
            <a:r>
              <a:rPr lang="en-US" dirty="0"/>
              <a:t>This design avoids forcing classes to implement methods that don’t make sense for them.</a:t>
            </a:r>
            <a:endParaRPr lang="en-IN" dirty="0"/>
          </a:p>
        </p:txBody>
      </p:sp>
    </p:spTree>
    <p:extLst>
      <p:ext uri="{BB962C8B-B14F-4D97-AF65-F5344CB8AC3E}">
        <p14:creationId xmlns:p14="http://schemas.microsoft.com/office/powerpoint/2010/main" val="1608347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A9BBC-617A-7F0D-F490-7337FC423472}"/>
              </a:ext>
            </a:extLst>
          </p:cNvPr>
          <p:cNvSpPr>
            <a:spLocks noGrp="1"/>
          </p:cNvSpPr>
          <p:nvPr>
            <p:ph type="title"/>
          </p:nvPr>
        </p:nvSpPr>
        <p:spPr>
          <a:xfrm>
            <a:off x="0" y="745277"/>
            <a:ext cx="9000877" cy="1080938"/>
          </a:xfrm>
        </p:spPr>
        <p:txBody>
          <a:bodyPr/>
          <a:lstStyle/>
          <a:p>
            <a:r>
              <a:rPr lang="en-IN" b="1" dirty="0"/>
              <a:t>4: Interface segregation principle</a:t>
            </a:r>
            <a:br>
              <a:rPr lang="en-IN" b="1" dirty="0"/>
            </a:br>
            <a:endParaRPr lang="en-IN" dirty="0"/>
          </a:p>
        </p:txBody>
      </p:sp>
      <p:sp>
        <p:nvSpPr>
          <p:cNvPr id="6" name="TextBox 5">
            <a:extLst>
              <a:ext uri="{FF2B5EF4-FFF2-40B4-BE49-F238E27FC236}">
                <a16:creationId xmlns:a16="http://schemas.microsoft.com/office/drawing/2014/main" id="{73555013-BAAB-F5F7-729D-B83B0AE2F0C4}"/>
              </a:ext>
            </a:extLst>
          </p:cNvPr>
          <p:cNvSpPr txBox="1"/>
          <p:nvPr/>
        </p:nvSpPr>
        <p:spPr>
          <a:xfrm>
            <a:off x="143123" y="2395923"/>
            <a:ext cx="8714630" cy="1477328"/>
          </a:xfrm>
          <a:prstGeom prst="rect">
            <a:avLst/>
          </a:prstGeom>
          <a:noFill/>
        </p:spPr>
        <p:txBody>
          <a:bodyPr wrap="square" rtlCol="0">
            <a:spAutoFit/>
          </a:bodyPr>
          <a:lstStyle/>
          <a:p>
            <a:r>
              <a:rPr lang="en-US" dirty="0"/>
              <a:t>This principle means a class should not be forced to depend on methods it does not need. Instead of creating one large interface that tries to cover everything, it is better to break it down into smaller, focused interfaces.</a:t>
            </a:r>
          </a:p>
          <a:p>
            <a:endParaRPr lang="en-US" dirty="0"/>
          </a:p>
          <a:p>
            <a:endParaRPr lang="en-IN" dirty="0"/>
          </a:p>
        </p:txBody>
      </p:sp>
    </p:spTree>
    <p:extLst>
      <p:ext uri="{BB962C8B-B14F-4D97-AF65-F5344CB8AC3E}">
        <p14:creationId xmlns:p14="http://schemas.microsoft.com/office/powerpoint/2010/main" val="1349628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2795-BB19-3ED8-3BD9-1E7A8FC78756}"/>
              </a:ext>
            </a:extLst>
          </p:cNvPr>
          <p:cNvSpPr>
            <a:spLocks noGrp="1"/>
          </p:cNvSpPr>
          <p:nvPr>
            <p:ph type="title"/>
          </p:nvPr>
        </p:nvSpPr>
        <p:spPr>
          <a:xfrm>
            <a:off x="83974" y="1109891"/>
            <a:ext cx="5171839" cy="709812"/>
          </a:xfrm>
        </p:spPr>
        <p:txBody>
          <a:bodyPr>
            <a:normAutofit fontScale="90000"/>
          </a:bodyPr>
          <a:lstStyle/>
          <a:p>
            <a:r>
              <a:rPr lang="en-US" b="1" dirty="0"/>
              <a:t>A design that fails ISP</a:t>
            </a:r>
            <a:br>
              <a:rPr lang="en-US" b="1" dirty="0"/>
            </a:br>
            <a:endParaRPr lang="en-IN" dirty="0"/>
          </a:p>
        </p:txBody>
      </p:sp>
      <p:pic>
        <p:nvPicPr>
          <p:cNvPr id="5" name="Picture 4">
            <a:extLst>
              <a:ext uri="{FF2B5EF4-FFF2-40B4-BE49-F238E27FC236}">
                <a16:creationId xmlns:a16="http://schemas.microsoft.com/office/drawing/2014/main" id="{D8770244-5A3E-582A-25C1-529F2FA05FF1}"/>
              </a:ext>
            </a:extLst>
          </p:cNvPr>
          <p:cNvPicPr>
            <a:picLocks noChangeAspect="1"/>
          </p:cNvPicPr>
          <p:nvPr/>
        </p:nvPicPr>
        <p:blipFill>
          <a:blip r:embed="rId2"/>
          <a:stretch>
            <a:fillRect/>
          </a:stretch>
        </p:blipFill>
        <p:spPr>
          <a:xfrm>
            <a:off x="537198" y="2129008"/>
            <a:ext cx="3315694" cy="990686"/>
          </a:xfrm>
          <a:prstGeom prst="rect">
            <a:avLst/>
          </a:prstGeom>
        </p:spPr>
      </p:pic>
      <p:sp>
        <p:nvSpPr>
          <p:cNvPr id="6" name="TextBox 5">
            <a:extLst>
              <a:ext uri="{FF2B5EF4-FFF2-40B4-BE49-F238E27FC236}">
                <a16:creationId xmlns:a16="http://schemas.microsoft.com/office/drawing/2014/main" id="{41634A50-A0C0-AC6E-77A0-6F55AE58EEF9}"/>
              </a:ext>
            </a:extLst>
          </p:cNvPr>
          <p:cNvSpPr txBox="1"/>
          <p:nvPr/>
        </p:nvSpPr>
        <p:spPr>
          <a:xfrm>
            <a:off x="83974" y="3429000"/>
            <a:ext cx="6475852" cy="369332"/>
          </a:xfrm>
          <a:prstGeom prst="rect">
            <a:avLst/>
          </a:prstGeom>
          <a:noFill/>
        </p:spPr>
        <p:txBody>
          <a:bodyPr wrap="square" rtlCol="0">
            <a:spAutoFit/>
          </a:bodyPr>
          <a:lstStyle/>
          <a:p>
            <a:r>
              <a:rPr lang="en-US" dirty="0"/>
              <a:t>Now imagine a </a:t>
            </a:r>
            <a:r>
              <a:rPr lang="en-US" dirty="0" err="1"/>
              <a:t>RobotWorker</a:t>
            </a:r>
            <a:r>
              <a:rPr lang="en-US" dirty="0"/>
              <a:t> that can work but doesn’t eat.</a:t>
            </a:r>
            <a:endParaRPr lang="en-IN" dirty="0"/>
          </a:p>
        </p:txBody>
      </p:sp>
      <p:pic>
        <p:nvPicPr>
          <p:cNvPr id="8" name="Picture 7">
            <a:extLst>
              <a:ext uri="{FF2B5EF4-FFF2-40B4-BE49-F238E27FC236}">
                <a16:creationId xmlns:a16="http://schemas.microsoft.com/office/drawing/2014/main" id="{28D1B4D9-79AD-6494-93BE-F744C0647598}"/>
              </a:ext>
            </a:extLst>
          </p:cNvPr>
          <p:cNvPicPr>
            <a:picLocks noChangeAspect="1"/>
          </p:cNvPicPr>
          <p:nvPr/>
        </p:nvPicPr>
        <p:blipFill>
          <a:blip r:embed="rId3"/>
          <a:stretch>
            <a:fillRect/>
          </a:stretch>
        </p:blipFill>
        <p:spPr>
          <a:xfrm>
            <a:off x="83974" y="4026891"/>
            <a:ext cx="7117697" cy="2636748"/>
          </a:xfrm>
          <a:prstGeom prst="rect">
            <a:avLst/>
          </a:prstGeom>
        </p:spPr>
      </p:pic>
      <p:sp>
        <p:nvSpPr>
          <p:cNvPr id="9" name="TextBox 8">
            <a:extLst>
              <a:ext uri="{FF2B5EF4-FFF2-40B4-BE49-F238E27FC236}">
                <a16:creationId xmlns:a16="http://schemas.microsoft.com/office/drawing/2014/main" id="{27A83760-3FFB-7EDD-5BBA-12340902D60D}"/>
              </a:ext>
            </a:extLst>
          </p:cNvPr>
          <p:cNvSpPr txBox="1"/>
          <p:nvPr/>
        </p:nvSpPr>
        <p:spPr>
          <a:xfrm>
            <a:off x="7402665" y="5121404"/>
            <a:ext cx="4530433" cy="1200329"/>
          </a:xfrm>
          <a:prstGeom prst="rect">
            <a:avLst/>
          </a:prstGeom>
          <a:noFill/>
        </p:spPr>
        <p:txBody>
          <a:bodyPr wrap="square" rtlCol="0">
            <a:spAutoFit/>
          </a:bodyPr>
          <a:lstStyle/>
          <a:p>
            <a:r>
              <a:rPr lang="en-US"/>
              <a:t>Here, RobotWorker is forced to depend on a method that makes no sense for it. This violates the Interface Segregation Principle.</a:t>
            </a:r>
            <a:endParaRPr lang="en-IN" dirty="0"/>
          </a:p>
        </p:txBody>
      </p:sp>
    </p:spTree>
    <p:extLst>
      <p:ext uri="{BB962C8B-B14F-4D97-AF65-F5344CB8AC3E}">
        <p14:creationId xmlns:p14="http://schemas.microsoft.com/office/powerpoint/2010/main" val="4017802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B45D3-10E4-DF33-4B5D-9C80F74298A5}"/>
              </a:ext>
            </a:extLst>
          </p:cNvPr>
          <p:cNvSpPr>
            <a:spLocks noGrp="1"/>
          </p:cNvSpPr>
          <p:nvPr>
            <p:ph type="title"/>
          </p:nvPr>
        </p:nvSpPr>
        <p:spPr>
          <a:xfrm>
            <a:off x="362270" y="810493"/>
            <a:ext cx="3724700" cy="700255"/>
          </a:xfrm>
        </p:spPr>
        <p:txBody>
          <a:bodyPr>
            <a:normAutofit fontScale="90000"/>
          </a:bodyPr>
          <a:lstStyle/>
          <a:p>
            <a:r>
              <a:rPr lang="en-US" b="1" dirty="0"/>
              <a:t>Applying ISP</a:t>
            </a:r>
            <a:br>
              <a:rPr lang="en-US" dirty="0"/>
            </a:br>
            <a:endParaRPr lang="en-IN" dirty="0"/>
          </a:p>
        </p:txBody>
      </p:sp>
      <p:sp>
        <p:nvSpPr>
          <p:cNvPr id="4" name="TextBox 3">
            <a:extLst>
              <a:ext uri="{FF2B5EF4-FFF2-40B4-BE49-F238E27FC236}">
                <a16:creationId xmlns:a16="http://schemas.microsoft.com/office/drawing/2014/main" id="{CE5AF2D1-71E2-F928-70E7-D15AFCC74A9C}"/>
              </a:ext>
            </a:extLst>
          </p:cNvPr>
          <p:cNvSpPr txBox="1"/>
          <p:nvPr/>
        </p:nvSpPr>
        <p:spPr>
          <a:xfrm>
            <a:off x="362270" y="1343770"/>
            <a:ext cx="5577354" cy="646331"/>
          </a:xfrm>
          <a:prstGeom prst="rect">
            <a:avLst/>
          </a:prstGeom>
          <a:noFill/>
        </p:spPr>
        <p:txBody>
          <a:bodyPr wrap="square" rtlCol="0">
            <a:spAutoFit/>
          </a:bodyPr>
          <a:lstStyle/>
          <a:p>
            <a:r>
              <a:rPr lang="en-US"/>
              <a:t>We can split the interface into smaller, unique pieces.</a:t>
            </a:r>
            <a:endParaRPr lang="en-IN" dirty="0"/>
          </a:p>
        </p:txBody>
      </p:sp>
      <p:pic>
        <p:nvPicPr>
          <p:cNvPr id="6" name="Picture 5">
            <a:extLst>
              <a:ext uri="{FF2B5EF4-FFF2-40B4-BE49-F238E27FC236}">
                <a16:creationId xmlns:a16="http://schemas.microsoft.com/office/drawing/2014/main" id="{027F3B12-7A23-E7FC-3760-BDD232326B0E}"/>
              </a:ext>
            </a:extLst>
          </p:cNvPr>
          <p:cNvPicPr>
            <a:picLocks noChangeAspect="1"/>
          </p:cNvPicPr>
          <p:nvPr/>
        </p:nvPicPr>
        <p:blipFill>
          <a:blip r:embed="rId2"/>
          <a:stretch>
            <a:fillRect/>
          </a:stretch>
        </p:blipFill>
        <p:spPr>
          <a:xfrm>
            <a:off x="26264" y="2269309"/>
            <a:ext cx="3535084" cy="2328942"/>
          </a:xfrm>
          <a:prstGeom prst="rect">
            <a:avLst/>
          </a:prstGeom>
        </p:spPr>
      </p:pic>
      <p:pic>
        <p:nvPicPr>
          <p:cNvPr id="8" name="Picture 7">
            <a:extLst>
              <a:ext uri="{FF2B5EF4-FFF2-40B4-BE49-F238E27FC236}">
                <a16:creationId xmlns:a16="http://schemas.microsoft.com/office/drawing/2014/main" id="{5C4B2EF3-65A2-DE41-FC02-81C152D291BD}"/>
              </a:ext>
            </a:extLst>
          </p:cNvPr>
          <p:cNvPicPr>
            <a:picLocks noChangeAspect="1"/>
          </p:cNvPicPr>
          <p:nvPr/>
        </p:nvPicPr>
        <p:blipFill>
          <a:blip r:embed="rId3"/>
          <a:stretch>
            <a:fillRect/>
          </a:stretch>
        </p:blipFill>
        <p:spPr>
          <a:xfrm>
            <a:off x="3650424" y="2960404"/>
            <a:ext cx="4694327" cy="3337849"/>
          </a:xfrm>
          <a:prstGeom prst="rect">
            <a:avLst/>
          </a:prstGeom>
        </p:spPr>
      </p:pic>
      <p:sp>
        <p:nvSpPr>
          <p:cNvPr id="10" name="TextBox 9">
            <a:extLst>
              <a:ext uri="{FF2B5EF4-FFF2-40B4-BE49-F238E27FC236}">
                <a16:creationId xmlns:a16="http://schemas.microsoft.com/office/drawing/2014/main" id="{5F1F025E-40DB-7645-EB69-60EA8EB2F825}"/>
              </a:ext>
            </a:extLst>
          </p:cNvPr>
          <p:cNvSpPr txBox="1"/>
          <p:nvPr/>
        </p:nvSpPr>
        <p:spPr>
          <a:xfrm>
            <a:off x="3650424" y="2174469"/>
            <a:ext cx="4345592" cy="646331"/>
          </a:xfrm>
          <a:prstGeom prst="rect">
            <a:avLst/>
          </a:prstGeom>
          <a:noFill/>
        </p:spPr>
        <p:txBody>
          <a:bodyPr wrap="square" rtlCol="0">
            <a:spAutoFit/>
          </a:bodyPr>
          <a:lstStyle/>
          <a:p>
            <a:r>
              <a:rPr lang="en-US" dirty="0"/>
              <a:t>Now, classes can implement only what they need.</a:t>
            </a:r>
            <a:endParaRPr lang="en-IN" dirty="0"/>
          </a:p>
        </p:txBody>
      </p:sp>
      <p:sp>
        <p:nvSpPr>
          <p:cNvPr id="11" name="TextBox 10">
            <a:extLst>
              <a:ext uri="{FF2B5EF4-FFF2-40B4-BE49-F238E27FC236}">
                <a16:creationId xmlns:a16="http://schemas.microsoft.com/office/drawing/2014/main" id="{ECBC17FB-3B3A-034A-EB3B-C5EA2208762E}"/>
              </a:ext>
            </a:extLst>
          </p:cNvPr>
          <p:cNvSpPr txBox="1"/>
          <p:nvPr/>
        </p:nvSpPr>
        <p:spPr>
          <a:xfrm>
            <a:off x="8433827" y="5097924"/>
            <a:ext cx="3602502" cy="1200329"/>
          </a:xfrm>
          <a:prstGeom prst="rect">
            <a:avLst/>
          </a:prstGeom>
          <a:noFill/>
        </p:spPr>
        <p:txBody>
          <a:bodyPr wrap="square" rtlCol="0">
            <a:spAutoFit/>
          </a:bodyPr>
          <a:lstStyle/>
          <a:p>
            <a:r>
              <a:rPr lang="en-US" dirty="0"/>
              <a:t>No class is forced to depend on methods it doesn’t need. The design is cleaner and follows the Interface Segregation Principle.</a:t>
            </a:r>
            <a:endParaRPr lang="en-IN" dirty="0"/>
          </a:p>
        </p:txBody>
      </p:sp>
    </p:spTree>
    <p:extLst>
      <p:ext uri="{BB962C8B-B14F-4D97-AF65-F5344CB8AC3E}">
        <p14:creationId xmlns:p14="http://schemas.microsoft.com/office/powerpoint/2010/main" val="1543455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3EF3F-7CA8-AA24-C1F8-ABDF675BC91C}"/>
              </a:ext>
            </a:extLst>
          </p:cNvPr>
          <p:cNvSpPr>
            <a:spLocks noGrp="1"/>
          </p:cNvSpPr>
          <p:nvPr>
            <p:ph type="title"/>
          </p:nvPr>
        </p:nvSpPr>
        <p:spPr>
          <a:xfrm>
            <a:off x="-81679" y="809376"/>
            <a:ext cx="8800563" cy="1080938"/>
          </a:xfrm>
        </p:spPr>
        <p:txBody>
          <a:bodyPr/>
          <a:lstStyle/>
          <a:p>
            <a:r>
              <a:rPr lang="en-IN" b="1" dirty="0"/>
              <a:t>5. Dependency inversion principle</a:t>
            </a:r>
            <a:br>
              <a:rPr lang="en-IN" b="1" dirty="0"/>
            </a:br>
            <a:endParaRPr lang="en-IN" dirty="0"/>
          </a:p>
        </p:txBody>
      </p:sp>
      <p:sp>
        <p:nvSpPr>
          <p:cNvPr id="4" name="TextBox 3">
            <a:extLst>
              <a:ext uri="{FF2B5EF4-FFF2-40B4-BE49-F238E27FC236}">
                <a16:creationId xmlns:a16="http://schemas.microsoft.com/office/drawing/2014/main" id="{9B5E793E-ECFE-9F20-C4FD-E9B7E56FAEE5}"/>
              </a:ext>
            </a:extLst>
          </p:cNvPr>
          <p:cNvSpPr txBox="1"/>
          <p:nvPr/>
        </p:nvSpPr>
        <p:spPr>
          <a:xfrm>
            <a:off x="176464" y="2228671"/>
            <a:ext cx="8045116" cy="1200329"/>
          </a:xfrm>
          <a:prstGeom prst="rect">
            <a:avLst/>
          </a:prstGeom>
          <a:noFill/>
        </p:spPr>
        <p:txBody>
          <a:bodyPr wrap="square" rtlCol="0">
            <a:spAutoFit/>
          </a:bodyPr>
          <a:lstStyle/>
          <a:p>
            <a:r>
              <a:rPr lang="en-US" dirty="0"/>
              <a:t>This principle explains that high-level components of the code should not rely on low-level components. Both should rely on abstractions instead. It helps decouple components of a system so they can change independently without causing damage to each other.</a:t>
            </a:r>
            <a:endParaRPr lang="en-IN" dirty="0"/>
          </a:p>
        </p:txBody>
      </p:sp>
    </p:spTree>
    <p:extLst>
      <p:ext uri="{BB962C8B-B14F-4D97-AF65-F5344CB8AC3E}">
        <p14:creationId xmlns:p14="http://schemas.microsoft.com/office/powerpoint/2010/main" val="16130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84288-B03F-B55A-21F6-6765D52BD6A2}"/>
              </a:ext>
            </a:extLst>
          </p:cNvPr>
          <p:cNvSpPr>
            <a:spLocks noGrp="1"/>
          </p:cNvSpPr>
          <p:nvPr>
            <p:ph type="title"/>
          </p:nvPr>
        </p:nvSpPr>
        <p:spPr>
          <a:xfrm>
            <a:off x="354318" y="983816"/>
            <a:ext cx="4877641" cy="813179"/>
          </a:xfrm>
        </p:spPr>
        <p:txBody>
          <a:bodyPr>
            <a:normAutofit fontScale="90000"/>
          </a:bodyPr>
          <a:lstStyle/>
          <a:p>
            <a:r>
              <a:rPr lang="en-US" b="1" dirty="0"/>
              <a:t>A design that fails DIP</a:t>
            </a:r>
            <a:br>
              <a:rPr lang="en-US" b="1" dirty="0"/>
            </a:br>
            <a:endParaRPr lang="en-IN" dirty="0"/>
          </a:p>
        </p:txBody>
      </p:sp>
      <p:pic>
        <p:nvPicPr>
          <p:cNvPr id="5" name="Picture 4">
            <a:extLst>
              <a:ext uri="{FF2B5EF4-FFF2-40B4-BE49-F238E27FC236}">
                <a16:creationId xmlns:a16="http://schemas.microsoft.com/office/drawing/2014/main" id="{BEB9F4D0-2B5A-B9C4-B9E1-FE7A1710EED7}"/>
              </a:ext>
            </a:extLst>
          </p:cNvPr>
          <p:cNvPicPr>
            <a:picLocks noChangeAspect="1"/>
          </p:cNvPicPr>
          <p:nvPr/>
        </p:nvPicPr>
        <p:blipFill>
          <a:blip r:embed="rId2"/>
          <a:stretch>
            <a:fillRect/>
          </a:stretch>
        </p:blipFill>
        <p:spPr>
          <a:xfrm>
            <a:off x="0" y="2037174"/>
            <a:ext cx="6012701" cy="4198984"/>
          </a:xfrm>
          <a:prstGeom prst="rect">
            <a:avLst/>
          </a:prstGeom>
        </p:spPr>
      </p:pic>
      <p:sp>
        <p:nvSpPr>
          <p:cNvPr id="6" name="TextBox 5">
            <a:extLst>
              <a:ext uri="{FF2B5EF4-FFF2-40B4-BE49-F238E27FC236}">
                <a16:creationId xmlns:a16="http://schemas.microsoft.com/office/drawing/2014/main" id="{96CF409F-613B-8919-C96D-CE4D90BA6B7E}"/>
              </a:ext>
            </a:extLst>
          </p:cNvPr>
          <p:cNvSpPr txBox="1"/>
          <p:nvPr/>
        </p:nvSpPr>
        <p:spPr>
          <a:xfrm>
            <a:off x="6289481" y="4707173"/>
            <a:ext cx="5740842" cy="1477328"/>
          </a:xfrm>
          <a:prstGeom prst="rect">
            <a:avLst/>
          </a:prstGeom>
          <a:noFill/>
        </p:spPr>
        <p:txBody>
          <a:bodyPr wrap="square" rtlCol="0">
            <a:spAutoFit/>
          </a:bodyPr>
          <a:lstStyle/>
          <a:p>
            <a:r>
              <a:rPr lang="en-US" dirty="0"/>
              <a:t>Here, </a:t>
            </a:r>
            <a:r>
              <a:rPr lang="en-US" dirty="0" err="1"/>
              <a:t>UserService</a:t>
            </a:r>
            <a:r>
              <a:rPr lang="en-US" dirty="0"/>
              <a:t> depends directly on </a:t>
            </a:r>
            <a:r>
              <a:rPr lang="en-US" dirty="0" err="1"/>
              <a:t>FileLogger</a:t>
            </a:r>
            <a:r>
              <a:rPr lang="en-US" dirty="0"/>
              <a:t>. If you want to add database logging or switch to another logging method, you will have to modify </a:t>
            </a:r>
            <a:r>
              <a:rPr lang="en-US" dirty="0" err="1"/>
              <a:t>UserService</a:t>
            </a:r>
            <a:r>
              <a:rPr lang="en-US" dirty="0"/>
              <a:t> itself. This tight coupling violates the Dependency Inversion Principle.</a:t>
            </a:r>
            <a:endParaRPr lang="en-IN" dirty="0"/>
          </a:p>
        </p:txBody>
      </p:sp>
    </p:spTree>
    <p:extLst>
      <p:ext uri="{BB962C8B-B14F-4D97-AF65-F5344CB8AC3E}">
        <p14:creationId xmlns:p14="http://schemas.microsoft.com/office/powerpoint/2010/main" val="2241735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A956-9515-32D7-1C70-1BCB086F89C1}"/>
              </a:ext>
            </a:extLst>
          </p:cNvPr>
          <p:cNvSpPr>
            <a:spLocks noGrp="1"/>
          </p:cNvSpPr>
          <p:nvPr>
            <p:ph type="title"/>
          </p:nvPr>
        </p:nvSpPr>
        <p:spPr>
          <a:xfrm>
            <a:off x="271248" y="1098133"/>
            <a:ext cx="3233953" cy="802856"/>
          </a:xfrm>
        </p:spPr>
        <p:txBody>
          <a:bodyPr>
            <a:normAutofit fontScale="90000"/>
          </a:bodyPr>
          <a:lstStyle/>
          <a:p>
            <a:r>
              <a:rPr lang="en-IN" b="1" dirty="0"/>
              <a:t>Applying DIP</a:t>
            </a:r>
            <a:br>
              <a:rPr lang="en-IN" b="1" dirty="0"/>
            </a:br>
            <a:endParaRPr lang="en-IN" dirty="0"/>
          </a:p>
        </p:txBody>
      </p:sp>
      <p:sp>
        <p:nvSpPr>
          <p:cNvPr id="4" name="TextBox 3">
            <a:extLst>
              <a:ext uri="{FF2B5EF4-FFF2-40B4-BE49-F238E27FC236}">
                <a16:creationId xmlns:a16="http://schemas.microsoft.com/office/drawing/2014/main" id="{5EBF25DB-EF24-033C-BE7A-C7D2CC6236BA}"/>
              </a:ext>
            </a:extLst>
          </p:cNvPr>
          <p:cNvSpPr txBox="1"/>
          <p:nvPr/>
        </p:nvSpPr>
        <p:spPr>
          <a:xfrm>
            <a:off x="0" y="1998238"/>
            <a:ext cx="5438274" cy="369332"/>
          </a:xfrm>
          <a:prstGeom prst="rect">
            <a:avLst/>
          </a:prstGeom>
          <a:noFill/>
        </p:spPr>
        <p:txBody>
          <a:bodyPr wrap="square" rtlCol="0">
            <a:spAutoFit/>
          </a:bodyPr>
          <a:lstStyle/>
          <a:p>
            <a:r>
              <a:rPr lang="en-US" dirty="0"/>
              <a:t>We can introduce a </a:t>
            </a:r>
            <a:r>
              <a:rPr lang="en-US" dirty="0" err="1"/>
              <a:t>LoggerInterface</a:t>
            </a:r>
            <a:r>
              <a:rPr lang="en-US" dirty="0"/>
              <a:t> abstraction.</a:t>
            </a:r>
            <a:endParaRPr lang="en-IN" dirty="0"/>
          </a:p>
        </p:txBody>
      </p:sp>
      <p:pic>
        <p:nvPicPr>
          <p:cNvPr id="6" name="Picture 5">
            <a:extLst>
              <a:ext uri="{FF2B5EF4-FFF2-40B4-BE49-F238E27FC236}">
                <a16:creationId xmlns:a16="http://schemas.microsoft.com/office/drawing/2014/main" id="{BEE9EB13-93DA-2B2F-A0D5-E1CA3DC4FBE7}"/>
              </a:ext>
            </a:extLst>
          </p:cNvPr>
          <p:cNvPicPr>
            <a:picLocks noChangeAspect="1"/>
          </p:cNvPicPr>
          <p:nvPr/>
        </p:nvPicPr>
        <p:blipFill>
          <a:blip r:embed="rId2"/>
          <a:stretch>
            <a:fillRect/>
          </a:stretch>
        </p:blipFill>
        <p:spPr>
          <a:xfrm>
            <a:off x="135733" y="2464819"/>
            <a:ext cx="2583404" cy="716342"/>
          </a:xfrm>
          <a:prstGeom prst="rect">
            <a:avLst/>
          </a:prstGeom>
        </p:spPr>
      </p:pic>
      <p:sp>
        <p:nvSpPr>
          <p:cNvPr id="7" name="TextBox 6">
            <a:extLst>
              <a:ext uri="{FF2B5EF4-FFF2-40B4-BE49-F238E27FC236}">
                <a16:creationId xmlns:a16="http://schemas.microsoft.com/office/drawing/2014/main" id="{C656BE98-9F19-F076-61D8-5505A0DD5744}"/>
              </a:ext>
            </a:extLst>
          </p:cNvPr>
          <p:cNvSpPr txBox="1"/>
          <p:nvPr/>
        </p:nvSpPr>
        <p:spPr>
          <a:xfrm>
            <a:off x="0" y="3278410"/>
            <a:ext cx="5710990" cy="646331"/>
          </a:xfrm>
          <a:prstGeom prst="rect">
            <a:avLst/>
          </a:prstGeom>
          <a:noFill/>
        </p:spPr>
        <p:txBody>
          <a:bodyPr wrap="square" rtlCol="0">
            <a:spAutoFit/>
          </a:bodyPr>
          <a:lstStyle/>
          <a:p>
            <a:r>
              <a:rPr lang="en-US" dirty="0"/>
              <a:t>Then </a:t>
            </a:r>
            <a:r>
              <a:rPr lang="en-US" dirty="0" err="1"/>
              <a:t>FileLogger</a:t>
            </a:r>
            <a:r>
              <a:rPr lang="en-US" dirty="0"/>
              <a:t>, </a:t>
            </a:r>
            <a:r>
              <a:rPr lang="en-US" dirty="0" err="1"/>
              <a:t>DatabaseLogger</a:t>
            </a:r>
            <a:r>
              <a:rPr lang="en-US" dirty="0"/>
              <a:t>, or any other logger can implement this interface.</a:t>
            </a:r>
            <a:endParaRPr lang="en-IN" dirty="0"/>
          </a:p>
        </p:txBody>
      </p:sp>
      <p:pic>
        <p:nvPicPr>
          <p:cNvPr id="9" name="Picture 8">
            <a:extLst>
              <a:ext uri="{FF2B5EF4-FFF2-40B4-BE49-F238E27FC236}">
                <a16:creationId xmlns:a16="http://schemas.microsoft.com/office/drawing/2014/main" id="{EF2009A6-C96C-E196-8AE7-7E982CD654E3}"/>
              </a:ext>
            </a:extLst>
          </p:cNvPr>
          <p:cNvPicPr>
            <a:picLocks noChangeAspect="1"/>
          </p:cNvPicPr>
          <p:nvPr/>
        </p:nvPicPr>
        <p:blipFill>
          <a:blip r:embed="rId3"/>
          <a:stretch>
            <a:fillRect/>
          </a:stretch>
        </p:blipFill>
        <p:spPr>
          <a:xfrm>
            <a:off x="135733" y="4094447"/>
            <a:ext cx="4595258" cy="2438611"/>
          </a:xfrm>
          <a:prstGeom prst="rect">
            <a:avLst/>
          </a:prstGeom>
        </p:spPr>
      </p:pic>
      <p:sp>
        <p:nvSpPr>
          <p:cNvPr id="10" name="TextBox 9">
            <a:extLst>
              <a:ext uri="{FF2B5EF4-FFF2-40B4-BE49-F238E27FC236}">
                <a16:creationId xmlns:a16="http://schemas.microsoft.com/office/drawing/2014/main" id="{4EA233D3-5759-098F-7106-404E448EA402}"/>
              </a:ext>
            </a:extLst>
          </p:cNvPr>
          <p:cNvSpPr txBox="1"/>
          <p:nvPr/>
        </p:nvSpPr>
        <p:spPr>
          <a:xfrm>
            <a:off x="5819518" y="2176659"/>
            <a:ext cx="5791200" cy="646331"/>
          </a:xfrm>
          <a:prstGeom prst="rect">
            <a:avLst/>
          </a:prstGeom>
          <a:noFill/>
        </p:spPr>
        <p:txBody>
          <a:bodyPr wrap="square" rtlCol="0">
            <a:spAutoFit/>
          </a:bodyPr>
          <a:lstStyle/>
          <a:p>
            <a:r>
              <a:rPr lang="en-US" dirty="0"/>
              <a:t>Now </a:t>
            </a:r>
            <a:r>
              <a:rPr lang="en-US" dirty="0" err="1"/>
              <a:t>UserService</a:t>
            </a:r>
            <a:r>
              <a:rPr lang="en-US" dirty="0"/>
              <a:t> depends on the abstraction created by the interface.</a:t>
            </a:r>
            <a:endParaRPr lang="en-IN" dirty="0"/>
          </a:p>
        </p:txBody>
      </p:sp>
      <p:pic>
        <p:nvPicPr>
          <p:cNvPr id="12" name="Picture 11">
            <a:extLst>
              <a:ext uri="{FF2B5EF4-FFF2-40B4-BE49-F238E27FC236}">
                <a16:creationId xmlns:a16="http://schemas.microsoft.com/office/drawing/2014/main" id="{B3E98CA3-879B-5080-0EAF-58493780575C}"/>
              </a:ext>
            </a:extLst>
          </p:cNvPr>
          <p:cNvPicPr>
            <a:picLocks noChangeAspect="1"/>
          </p:cNvPicPr>
          <p:nvPr/>
        </p:nvPicPr>
        <p:blipFill>
          <a:blip r:embed="rId4"/>
          <a:stretch>
            <a:fillRect/>
          </a:stretch>
        </p:blipFill>
        <p:spPr>
          <a:xfrm>
            <a:off x="5895474" y="3004692"/>
            <a:ext cx="5639289" cy="2309060"/>
          </a:xfrm>
          <a:prstGeom prst="rect">
            <a:avLst/>
          </a:prstGeom>
        </p:spPr>
      </p:pic>
      <p:sp>
        <p:nvSpPr>
          <p:cNvPr id="13" name="TextBox 12">
            <a:extLst>
              <a:ext uri="{FF2B5EF4-FFF2-40B4-BE49-F238E27FC236}">
                <a16:creationId xmlns:a16="http://schemas.microsoft.com/office/drawing/2014/main" id="{10E4FD41-6562-7E08-3EF7-F243B2A27283}"/>
              </a:ext>
            </a:extLst>
          </p:cNvPr>
          <p:cNvSpPr txBox="1"/>
          <p:nvPr/>
        </p:nvSpPr>
        <p:spPr>
          <a:xfrm>
            <a:off x="5743563" y="5485109"/>
            <a:ext cx="5791200" cy="923330"/>
          </a:xfrm>
          <a:prstGeom prst="rect">
            <a:avLst/>
          </a:prstGeom>
          <a:noFill/>
        </p:spPr>
        <p:txBody>
          <a:bodyPr wrap="square" rtlCol="0">
            <a:spAutoFit/>
          </a:bodyPr>
          <a:lstStyle/>
          <a:p>
            <a:r>
              <a:rPr lang="en-US" dirty="0"/>
              <a:t>Now </a:t>
            </a:r>
            <a:r>
              <a:rPr lang="en-US" dirty="0" err="1"/>
              <a:t>UserService</a:t>
            </a:r>
            <a:r>
              <a:rPr lang="en-US" dirty="0"/>
              <a:t> works with any logger without needing changes. Both the high-level service and the low-level logger depend only on the abstraction.</a:t>
            </a:r>
            <a:endParaRPr lang="en-IN" dirty="0"/>
          </a:p>
        </p:txBody>
      </p:sp>
    </p:spTree>
    <p:extLst>
      <p:ext uri="{BB962C8B-B14F-4D97-AF65-F5344CB8AC3E}">
        <p14:creationId xmlns:p14="http://schemas.microsoft.com/office/powerpoint/2010/main" val="3648552030"/>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369</TotalTime>
  <Words>956</Words>
  <Application>Microsoft Office PowerPoint</Application>
  <PresentationFormat>Widescreen</PresentationFormat>
  <Paragraphs>68</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Trebuchet MS</vt:lpstr>
      <vt:lpstr>Berlin</vt:lpstr>
      <vt:lpstr>SOLID Design Principles </vt:lpstr>
      <vt:lpstr>What does SOLID design principle mean? </vt:lpstr>
      <vt:lpstr>Why use SOLID principles? </vt:lpstr>
      <vt:lpstr>Single-responsibility principle</vt:lpstr>
      <vt:lpstr>PowerPoint Presentation</vt:lpstr>
      <vt:lpstr>2: Open/closed principle </vt:lpstr>
      <vt:lpstr>2: Open/closed principle </vt:lpstr>
      <vt:lpstr>A design that fails OCP </vt:lpstr>
      <vt:lpstr>Applying OCP with extension </vt:lpstr>
      <vt:lpstr>3: Liskov substitution principle </vt:lpstr>
      <vt:lpstr>A class that fails LSP </vt:lpstr>
      <vt:lpstr>Applying LSP </vt:lpstr>
      <vt:lpstr>4: Interface segregation principle </vt:lpstr>
      <vt:lpstr>A design that fails ISP </vt:lpstr>
      <vt:lpstr>Applying ISP </vt:lpstr>
      <vt:lpstr>5. Dependency inversion principle </vt:lpstr>
      <vt:lpstr>A design that fails DIP </vt:lpstr>
      <vt:lpstr>Applying DIP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 Raj</dc:creator>
  <cp:lastModifiedBy>Ashwin Raj</cp:lastModifiedBy>
  <cp:revision>4</cp:revision>
  <dcterms:created xsi:type="dcterms:W3CDTF">2026-05-01T13:43:50Z</dcterms:created>
  <dcterms:modified xsi:type="dcterms:W3CDTF">2026-05-02T05:12:48Z</dcterms:modified>
</cp:coreProperties>
</file>